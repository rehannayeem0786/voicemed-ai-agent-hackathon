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'Hi judges — think back to the last time you tried to describe pain to a health system. Forms, hold music, apps. VoiceMed replaces that with a conversation.' Everything on screen runs on ONE AssemblyAI voice WebSocket, and the protocol was verified live against the real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three numbers, then the punchline: in an emergency the user has zero mobility, zero literacy and zero spare attention — only voice fits. This motivates a VOICE-FIRST agent, not another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doing the live demo, switch to browser now and press Alt+D. If recording, show the 4 beats in order: emergency banner, medication panel, ESI gauge + SOAP note. The Copilot card on the left mirrors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audio in the browser, one websocket to AssemblyAI for STT+LLM+TTS, tool calls executed locally against our clinical data, results queued back as tool.result. Emphasize latency +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Differentiator slide: most hackathon agents are a one-line prompt. Ours is a reviewable, versioned definition with voice rules, staged screening and held tool calls — plus local deterministic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tools cover the whole intake lifecycle. Highlight emergency_alert: execution_mode hold keeps the patient with Aria while the alert lands. Tool names stay English so both languages share one dispatcher.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the 🌐 selector in the app to demo live. Point out voice lola is a native Spanish voice, not English TTS reading Spanish — and that the tool layer is shared, so results stay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probe safety on medical projects. Answer preemptively: mandatory red-flag stage, deterministic ESI scoring, no-diagnosis rules, and a held emergency_alert call. End with the honest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'we did our homework' slide: 44 tests, plus a smoke test that replays the actual Voice Agent protocol against production and prints PASS — judges can run it in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roadmap concrete and unfancy: FHIR write-back, device vitals, clinic dashboard, on-prem swap. Each maps to an existing seam in the code — tools stay, models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grid — speak over it in 20 seconds. Then the one-liner: clone, key, uvicorn, press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restate the one-liner, point at the repo QR/URL, thank judges, invite the chest-pain question live — that demo beat never misses. 30 seconds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332220"/>
            <a:ext cx="45449" cy="457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639" y="6276839"/>
            <a:ext cx="45449" cy="15648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0639" y="6221995"/>
            <a:ext cx="45449" cy="26616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1638" y="6191686"/>
            <a:ext cx="45449" cy="32678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638" y="6204776"/>
            <a:ext cx="45449" cy="300607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3638" y="6266023"/>
            <a:ext cx="45449" cy="17811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637" y="6302528"/>
            <a:ext cx="45449" cy="105103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55637" y="6200928"/>
            <a:ext cx="45449" cy="30830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56637" y="6128589"/>
            <a:ext cx="45449" cy="45298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57636" y="6113873"/>
            <a:ext cx="45449" cy="48241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58636" y="6167350"/>
            <a:ext cx="45449" cy="37545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59636" y="6276544"/>
            <a:ext cx="45449" cy="15707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60635" y="6255472"/>
            <a:ext cx="45449" cy="19921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61635" y="6141772"/>
            <a:ext cx="45449" cy="42661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62634" y="6083811"/>
            <a:ext cx="45449" cy="54253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63634" y="6100694"/>
            <a:ext cx="45449" cy="50877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64634" y="6186842"/>
            <a:ext cx="45449" cy="33647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65633" y="6313976"/>
            <a:ext cx="45449" cy="82207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66633" y="6223342"/>
            <a:ext cx="45449" cy="2634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67633" y="6135677"/>
            <a:ext cx="45449" cy="4388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8632" y="6112063"/>
            <a:ext cx="45449" cy="48603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69632" y="6154697"/>
            <a:ext cx="45449" cy="40076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70632" y="6244097"/>
            <a:ext cx="45449" cy="22196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71631" y="6317028"/>
            <a:ext cx="45449" cy="7610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2631" y="6233579"/>
            <a:ext cx="45449" cy="2430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73630" y="6192958"/>
            <a:ext cx="45449" cy="32424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74630" y="6200553"/>
            <a:ext cx="45449" cy="30905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75630" y="6244524"/>
            <a:ext cx="45449" cy="22111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76629" y="6302492"/>
            <a:ext cx="45449" cy="10517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77629" y="6309229"/>
            <a:ext cx="45449" cy="917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78629" y="6251222"/>
            <a:ext cx="45449" cy="20771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79628" y="6204285"/>
            <a:ext cx="45449" cy="30158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80628" y="6191415"/>
            <a:ext cx="45449" cy="3273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81628" y="6226170"/>
            <a:ext cx="45449" cy="25781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982627" y="6305387"/>
            <a:ext cx="45449" cy="9938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83627" y="6256455"/>
            <a:ext cx="45449" cy="19724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84626" y="6163514"/>
            <a:ext cx="45449" cy="38313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85626" y="6113882"/>
            <a:ext cx="45449" cy="48239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86626" y="6129204"/>
            <a:ext cx="45449" cy="4517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87625" y="6210087"/>
            <a:ext cx="45449" cy="28998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88625" y="6330064"/>
            <a:ext cx="45449" cy="5003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689625" y="6200661"/>
            <a:ext cx="45449" cy="30883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90624" y="6107740"/>
            <a:ext cx="45449" cy="49467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91624" y="6081759"/>
            <a:ext cx="45449" cy="54664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992624" y="6131300"/>
            <a:ext cx="45449" cy="44755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93623" y="6240023"/>
            <a:ext cx="45449" cy="23011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194623" y="6291984"/>
            <a:ext cx="45449" cy="12619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295622" y="6177984"/>
            <a:ext cx="45449" cy="35419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96622" y="6116714"/>
            <a:ext cx="45449" cy="47673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97622" y="6123377"/>
            <a:ext cx="45449" cy="4634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98621" y="6190042"/>
            <a:ext cx="45449" cy="33007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699621" y="6289971"/>
            <a:ext cx="45449" cy="13021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0621" y="6276142"/>
            <a:ext cx="45449" cy="15787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901620" y="6209671"/>
            <a:ext cx="45449" cy="29081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002620" y="6190713"/>
            <a:ext cx="45449" cy="32873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03620" y="6216608"/>
            <a:ext cx="45449" cy="27694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04619" y="6269772"/>
            <a:ext cx="45449" cy="17061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05619" y="6326279"/>
            <a:ext cx="45449" cy="57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406618" y="6283907"/>
            <a:ext cx="45449" cy="1423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07618" y="6227740"/>
            <a:ext cx="45449" cy="25467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608618" y="6193300"/>
            <a:ext cx="45449" cy="32355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09617" y="6200595"/>
            <a:ext cx="45449" cy="3089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810617" y="6256420"/>
            <a:ext cx="45449" cy="19731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11617" y="6314995"/>
            <a:ext cx="45449" cy="80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12616" y="6212241"/>
            <a:ext cx="45449" cy="28567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113616" y="6134650"/>
            <a:ext cx="45449" cy="44085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214616" y="6112041"/>
            <a:ext cx="45449" cy="48607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15615" y="6157542"/>
            <a:ext cx="45449" cy="39507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416615" y="6261450"/>
            <a:ext cx="45449" cy="18725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517614" y="6271197"/>
            <a:ext cx="45449" cy="16776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618614" y="6153066"/>
            <a:ext cx="45449" cy="40402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719614" y="6086970"/>
            <a:ext cx="45449" cy="53621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20613" y="6094672"/>
            <a:ext cx="45449" cy="52081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921613" y="6173628"/>
            <a:ext cx="45449" cy="36290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022613" y="6297886"/>
            <a:ext cx="45449" cy="114387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123612" y="6237182"/>
            <a:ext cx="45449" cy="23579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224612" y="6143099"/>
            <a:ext cx="45449" cy="42396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325612" y="6111222"/>
            <a:ext cx="45449" cy="48771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426611" y="6146568"/>
            <a:ext cx="45449" cy="417023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527611" y="6231939"/>
            <a:ext cx="45449" cy="2462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628610" y="6328969"/>
            <a:ext cx="45449" cy="522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729610" y="6241626"/>
            <a:ext cx="45449" cy="22690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830610" y="6195215"/>
            <a:ext cx="45449" cy="31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931609" y="6197358"/>
            <a:ext cx="45449" cy="31544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032609" y="6238028"/>
            <a:ext cx="45449" cy="23410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133609" y="6295614"/>
            <a:ext cx="45449" cy="11893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234608" y="6315791"/>
            <a:ext cx="45449" cy="7857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335608" y="6258078"/>
            <a:ext cx="45449" cy="19400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436608" y="6208517"/>
            <a:ext cx="45449" cy="29312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537607" y="6190577"/>
            <a:ext cx="45449" cy="32900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638607" y="6219421"/>
            <a:ext cx="45449" cy="27131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739606" y="6294096"/>
            <a:ext cx="45449" cy="12196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840606" y="6268950"/>
            <a:ext cx="45449" cy="17225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941606" y="6172968"/>
            <a:ext cx="45449" cy="364223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042605" y="6116660"/>
            <a:ext cx="45449" cy="47683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0143605" y="6123701"/>
            <a:ext cx="45449" cy="462757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0244605" y="6197476"/>
            <a:ext cx="45449" cy="31520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345604" y="6318365"/>
            <a:ext cx="45449" cy="7342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446604" y="6215018"/>
            <a:ext cx="45449" cy="28012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547604" y="6115774"/>
            <a:ext cx="45449" cy="47861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648603" y="6080823"/>
            <a:ext cx="45449" cy="54851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0749603" y="6121703"/>
            <a:ext cx="45449" cy="46675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850602" y="6224923"/>
            <a:ext cx="45449" cy="260313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951602" y="6307698"/>
            <a:ext cx="45449" cy="9476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1052602" y="6189399"/>
            <a:ext cx="45449" cy="33136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1153601" y="6120560"/>
            <a:ext cx="45449" cy="46903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1254601" y="6119052"/>
            <a:ext cx="45449" cy="47205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1355601" y="6179645"/>
            <a:ext cx="45449" cy="3508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456600" y="6277385"/>
            <a:ext cx="45449" cy="15538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1557600" y="6286738"/>
            <a:ext cx="45449" cy="13668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8640" y="5989320"/>
            <a:ext cx="11091672" cy="18288"/>
          </a:xfrm>
          <a:prstGeom prst="rect">
            <a:avLst/>
          </a:prstGeom>
          <a:solidFill>
            <a:srgbClr val="24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66928" y="566928"/>
            <a:ext cx="4160520" cy="402336"/>
          </a:xfrm>
          <a:prstGeom prst="roundRect">
            <a:avLst>
              <a:gd name="adj" fmla="val 50000"/>
            </a:avLst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566928"/>
            <a:ext cx="41605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DD4BF"/>
                </a:solidFill>
                <a:latin typeface="Segoe UI"/>
              </a:rPr>
              <a:t>🏆  ASSEMBLYAI VOICE AGENT HACKATHON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 i="0">
                <a:solidFill>
                  <a:srgbClr val="E9EEF7"/>
                </a:solidFill>
                <a:latin typeface="Segoe UI Semibold"/>
              </a:rPr>
              <a:t>VoiceMed </a:t>
            </a:r>
            <a:r>
              <a:rPr sz="6300" b="1" i="0">
                <a:solidFill>
                  <a:srgbClr val="2DD4BF"/>
                </a:solidFill>
                <a:latin typeface="Segoe UI Semibold"/>
              </a:rPr>
              <a:t>AI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6928" y="2743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9EEF7"/>
                </a:solidFill>
                <a:latin typeface="Segoe UI"/>
              </a:rPr>
              <a:t>Aria — </a:t>
            </a:r>
            <a:r>
              <a:rPr sz="2200" b="0" i="0">
                <a:solidFill>
                  <a:srgbClr val="8EA1BB"/>
                </a:solidFill>
                <a:latin typeface="Segoe UI"/>
              </a:rPr>
              <a:t>the AI triage nurse you talk to, not type at.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35204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E9EEF7"/>
                </a:solidFill>
                <a:latin typeface="Segoe UI"/>
              </a:rPr>
              <a:t>Voice intake → ESI 1–5 triage → drug-interaction checks → emergency escalation → EMR-ready SOAP notes.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EA1BB"/>
                </a:solidFill>
                <a:latin typeface="Segoe UI"/>
              </a:rPr>
              <a:t>One real-time voice connection, in English &amp; Español — built on the AssemblyAI Voice Agent API.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EA1BB"/>
                </a:solidFill>
                <a:latin typeface="Segoe UI"/>
              </a:rPr>
              <a:t>github.com/rehannayeem0786/Voicemed-AI-Agent-Hackathon   ·   </a:t>
            </a:r>
            <a:r>
              <a:rPr sz="1100" b="1" i="0">
                <a:solidFill>
                  <a:srgbClr val="34D399"/>
                </a:solidFill>
                <a:latin typeface="Segoe UI"/>
              </a:rPr>
              <a:t>protocol verified live against wss://agents.assemblyai.com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Every triage call starts with a keyboard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8366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DD4BF"/>
                </a:solidFill>
                <a:latin typeface="Segoe UI Semibold"/>
              </a:rPr>
              <a:t>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15184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of adults 60+ struggle to use online patient portals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8366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DD4BF"/>
                </a:solidFill>
                <a:latin typeface="Segoe UI Semibold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15184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of US adults lack the health-literacy skills to navigate 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69164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88366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DD4BF"/>
                </a:solidFill>
                <a:latin typeface="Segoe UI Semibold"/>
              </a:rPr>
              <a:t>4.5B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615184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GP / telehealth visits a year worldwide still begin as text intake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11880"/>
            <a:ext cx="11073384" cy="237744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Segoe UI"/>
              </a:rPr>
              <a:t>What breaks in a real emergency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393692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315968"/>
            <a:ext cx="1007668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9EEF7"/>
                </a:solidFill>
                <a:latin typeface="Segoe UI"/>
              </a:rPr>
              <a:t>Typing ≠ triage. 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EA1BB"/>
                </a:solidFill>
                <a:latin typeface="Segoe UI"/>
              </a:rPr>
              <a:t>Red-flag symptoms get flattened into dropdowns — chest pain becomes 'general discomfort'.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92404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4846320"/>
            <a:ext cx="1007668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9EEF7"/>
                </a:solidFill>
                <a:latin typeface="Segoe UI"/>
              </a:rPr>
              <a:t>Language barriers. 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EA1BB"/>
                </a:solidFill>
                <a:latin typeface="Segoe UI"/>
              </a:rPr>
              <a:t>56M+ Spanish speakers navigate English-only intake at the moment of highest stress.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454396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5376672"/>
            <a:ext cx="1007668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9EEF7"/>
                </a:solidFill>
                <a:latin typeface="Segoe UI"/>
              </a:rPr>
              <a:t>The 3 a.m. gap. 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EA1BB"/>
                </a:solidFill>
                <a:latin typeface="Segoe UI"/>
              </a:rPr>
              <a:t>When someone is dizzy, sweating and scared, the safest interface is a calm voice asking one question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EA1BB"/>
                </a:solidFill>
                <a:latin typeface="Segoe UI"/>
              </a:rPr>
              <a:t>Voice is the only UI that works </a:t>
            </a:r>
            <a:r>
              <a:rPr sz="1400" b="1" i="1">
                <a:solidFill>
                  <a:srgbClr val="2DD4BF"/>
                </a:solidFill>
                <a:latin typeface="Segoe UI"/>
              </a:rPr>
              <a:t>at zero mobility, zero literacy, zero spare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02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Ninety seconds, one take — the Demo Copilot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2615184" cy="3566160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2615184" cy="12801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84831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9EEF7"/>
                </a:solidFill>
                <a:latin typeface="Segoe UI Semibold"/>
              </a:rPr>
              <a:t>🚨  Chest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15184"/>
            <a:ext cx="2194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E9EEF7"/>
                </a:solidFill>
                <a:latin typeface="Segoe UI"/>
              </a:rPr>
              <a:t>“Crushing chest pain into my left arm, I'm sweating.”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7033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A1BB"/>
                </a:solidFill>
                <a:latin typeface="Segoe UI"/>
              </a:rPr>
              <a:t>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77639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43F5E"/>
                </a:solidFill>
                <a:latin typeface="Segoe UI"/>
              </a:rPr>
              <a:t>red-flag fired → ESI 1 → Aria says call 911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82112" y="3291840"/>
            <a:ext cx="219456" cy="292608"/>
          </a:xfrm>
          <a:prstGeom prst="rightArrow">
            <a:avLst/>
          </a:prstGeom>
          <a:solidFill>
            <a:srgbClr val="24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783080"/>
            <a:ext cx="2615184" cy="3566160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783080"/>
            <a:ext cx="2615184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084831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9EEF7"/>
                </a:solidFill>
                <a:latin typeface="Segoe UI Semibold"/>
              </a:rPr>
              <a:t>💊  Medications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615184"/>
            <a:ext cx="2194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E9EEF7"/>
                </a:solidFill>
                <a:latin typeface="Segoe UI"/>
              </a:rPr>
              <a:t>“I also take warfarin and aspirin.”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7033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A1BB"/>
                </a:solidFill>
                <a:latin typeface="Segoe UI"/>
              </a:rPr>
              <a:t>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3977639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59E0B"/>
                </a:solidFill>
                <a:latin typeface="Segoe UI"/>
              </a:rPr>
              <a:t>interaction check → high bleeding risk panel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3291840"/>
            <a:ext cx="219456" cy="292608"/>
          </a:xfrm>
          <a:prstGeom prst="rightArrow">
            <a:avLst/>
          </a:prstGeom>
          <a:solidFill>
            <a:srgbClr val="24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2" y="1783080"/>
            <a:ext cx="2615184" cy="3566160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2615184" cy="12801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084831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9EEF7"/>
                </a:solidFill>
                <a:latin typeface="Segoe UI Semibold"/>
              </a:rPr>
              <a:t>🔍  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615184"/>
            <a:ext cx="2194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E9EEF7"/>
                </a:solidFill>
                <a:latin typeface="Segoe UI"/>
              </a:rPr>
              <a:t>“Started this morning, it's 8 out of 10.”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7033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A1BB"/>
                </a:solidFill>
                <a:latin typeface="Segoe UI"/>
              </a:rP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977639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8BDF8"/>
                </a:solidFill>
                <a:latin typeface="Segoe UI"/>
              </a:rPr>
              <a:t>symptom lookup → follow-ups woven into Aria's questions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14816" y="3291840"/>
            <a:ext cx="219456" cy="292608"/>
          </a:xfrm>
          <a:prstGeom prst="rightArrow">
            <a:avLst/>
          </a:prstGeom>
          <a:solidFill>
            <a:srgbClr val="24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15984" y="1783080"/>
            <a:ext cx="2615184" cy="3566160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1783080"/>
            <a:ext cx="2615184" cy="12801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084831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9EEF7"/>
                </a:solidFill>
                <a:latin typeface="Segoe UI Semibold"/>
              </a:rPr>
              <a:t>📋  Wrap-up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615184"/>
            <a:ext cx="2194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E9EEF7"/>
                </a:solidFill>
                <a:latin typeface="Segoe UI"/>
              </a:rPr>
              <a:t>“I think that's everything.”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7033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A1BB"/>
                </a:solidFill>
                <a:latin typeface="Segoe UI"/>
              </a:rPr>
              <a:t>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977639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4D399"/>
                </a:solidFill>
                <a:latin typeface="Segoe UI"/>
              </a:rPr>
              <a:t>ESI gauge animates → SOAP note with ICD-10 → booking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69280"/>
            <a:ext cx="11073384" cy="6858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78815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🎬 Demo Copilot  </a:t>
            </a:r>
            <a:r>
              <a:rPr sz="1250" b="0" i="0">
                <a:solidFill>
                  <a:srgbClr val="8EA1BB"/>
                </a:solidFill>
                <a:latin typeface="Segoe UI"/>
              </a:rPr>
              <a:t>built into the app (Alt+D): auto-advances as Aria hears each line — a flawless one-take demo, even in a loud 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One WebSocket in — everything else is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3108960" cy="3977639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28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 Semibold"/>
              </a:rPr>
              <a:t>Browser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363724"/>
            <a:ext cx="100584" cy="1005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286000"/>
            <a:ext cx="2441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Mic capture, VAD, barge-in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930652"/>
            <a:ext cx="100584" cy="1005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852928"/>
            <a:ext cx="2441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Animated waveform + live transcript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497580"/>
            <a:ext cx="100584" cy="1005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2441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Progress tracker &amp; tool panels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064507"/>
            <a:ext cx="100584" cy="1005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986783"/>
            <a:ext cx="2441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 PCM 16 kHz down · 24 kHz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920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9EEF7"/>
                </a:solidFill>
                <a:latin typeface="Segoe UI"/>
              </a:rPr>
              <a:t>FastAPI bridge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85615" y="3429000"/>
            <a:ext cx="457200" cy="38404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8" y="1645920"/>
            <a:ext cx="3520440" cy="3977639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645920"/>
            <a:ext cx="352044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1874519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D4BF"/>
                </a:solidFill>
                <a:latin typeface="Segoe UI Semibold"/>
              </a:rPr>
              <a:t>AssemblyAI Voice Agent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286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EA1BB"/>
                </a:solidFill>
                <a:latin typeface="Segoe UI"/>
              </a:rPr>
              <a:t>wss://agents.assemblyai.com</a:t>
            </a:r>
          </a:p>
        </p:txBody>
      </p:sp>
      <p:sp>
        <p:nvSpPr>
          <p:cNvPr id="22" name="Oval 21"/>
          <p:cNvSpPr/>
          <p:nvPr/>
        </p:nvSpPr>
        <p:spPr>
          <a:xfrm>
            <a:off x="4535424" y="277520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1456" y="269748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EEF7"/>
                </a:solidFill>
                <a:latin typeface="Segoe UI"/>
              </a:rPr>
              <a:t>Universal STT  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streaming, EN + ES</a:t>
            </a:r>
          </a:p>
        </p:txBody>
      </p:sp>
      <p:sp>
        <p:nvSpPr>
          <p:cNvPr id="24" name="Oval 23"/>
          <p:cNvSpPr/>
          <p:nvPr/>
        </p:nvSpPr>
        <p:spPr>
          <a:xfrm>
            <a:off x="4535424" y="332384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24612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EEF7"/>
                </a:solidFill>
                <a:latin typeface="Segoe UI"/>
              </a:rPr>
              <a:t>LLM tool-calling  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session.update contract</a:t>
            </a:r>
          </a:p>
        </p:txBody>
      </p:sp>
      <p:sp>
        <p:nvSpPr>
          <p:cNvPr id="26" name="Oval 25"/>
          <p:cNvSpPr/>
          <p:nvPr/>
        </p:nvSpPr>
        <p:spPr>
          <a:xfrm>
            <a:off x="4535424" y="387248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6" y="379476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EEF7"/>
                </a:solidFill>
                <a:latin typeface="Segoe UI"/>
              </a:rPr>
              <a:t>Dialog TTS  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voice alba / lola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57200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070B14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57200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8EA1BB"/>
                </a:solidFill>
                <a:latin typeface="Segoe UI"/>
              </a:rPr>
              <a:t>auth: short-lived token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512064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070B14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512064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8EA1BB"/>
                </a:solidFill>
                <a:latin typeface="Segoe UI"/>
              </a:rPr>
              <a:t>or stored agent_id binding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946136" y="3429000"/>
            <a:ext cx="457200" cy="384048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13064" y="1645920"/>
            <a:ext cx="3127248" cy="3977639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1828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4D399"/>
                </a:solidFill>
                <a:latin typeface="Segoe UI Semibold"/>
              </a:rPr>
              <a:t>Local clinical stack</a:t>
            </a:r>
          </a:p>
        </p:txBody>
      </p:sp>
      <p:sp>
        <p:nvSpPr>
          <p:cNvPr id="35" name="Oval 34"/>
          <p:cNvSpPr/>
          <p:nvPr/>
        </p:nvSpPr>
        <p:spPr>
          <a:xfrm>
            <a:off x="8732520" y="2363724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2" y="2286000"/>
            <a:ext cx="2441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SQLite session + audit log</a:t>
            </a:r>
          </a:p>
        </p:txBody>
      </p:sp>
      <p:sp>
        <p:nvSpPr>
          <p:cNvPr id="37" name="Oval 36"/>
          <p:cNvSpPr/>
          <p:nvPr/>
        </p:nvSpPr>
        <p:spPr>
          <a:xfrm>
            <a:off x="8732520" y="293065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552" y="2852928"/>
            <a:ext cx="2441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JSON clinical databases</a:t>
            </a:r>
          </a:p>
        </p:txBody>
      </p:sp>
      <p:sp>
        <p:nvSpPr>
          <p:cNvPr id="39" name="Oval 38"/>
          <p:cNvSpPr/>
          <p:nvPr/>
        </p:nvSpPr>
        <p:spPr>
          <a:xfrm>
            <a:off x="8732520" y="3497580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8552" y="3419856"/>
            <a:ext cx="2441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6 function tools in Python</a:t>
            </a:r>
          </a:p>
        </p:txBody>
      </p:sp>
      <p:sp>
        <p:nvSpPr>
          <p:cNvPr id="41" name="Oval 40"/>
          <p:cNvSpPr/>
          <p:nvPr/>
        </p:nvSpPr>
        <p:spPr>
          <a:xfrm>
            <a:off x="8732520" y="4064507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8552" y="3986783"/>
            <a:ext cx="24414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SOAP notes, JSON 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897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9EEF7"/>
                </a:solidFill>
                <a:latin typeface="Segoe UI"/>
              </a:rPr>
              <a:t>Why this shape: </a:t>
            </a:r>
            <a:r>
              <a:rPr sz="1250" b="0" i="0">
                <a:solidFill>
                  <a:srgbClr val="8EA1BB"/>
                </a:solidFill>
                <a:latin typeface="Segoe UI"/>
              </a:rPr>
              <a:t>client-side tools respond in milliseconds (no LLM round-trip for lookups), PHI never leaves the bridge, and the agent works with or without a published stored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04 ·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Aria is designed like a real triage nurse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94960" cy="41148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Stored-agent definition (agents/voicemed_triage.jsonc)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0944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31720"/>
            <a:ext cx="46360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One question at a time.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Voice rules stop the LLM from lecturing — every turn is short and ends listening.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50691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72968"/>
            <a:ext cx="46360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Warm, plain-language persona.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No jargon, no lists, brief empathy before the next question.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91939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14215"/>
            <a:ext cx="46360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Safety is procedural, not hoped for.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Red-flag screening is a numbered interview stage, escalation is a held tool call.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933188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855464"/>
            <a:ext cx="46360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Structured by design.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Symptom → meds → red flags → ESI → SOAP → booking, mirrored by the UI tracker.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645920"/>
            <a:ext cx="5394960" cy="41148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470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Why judges should care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240944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331720"/>
            <a:ext cx="46360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Reproducible agent.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The JSONC is the single source of truth for the browser, the publisher script and tests.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250691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172968"/>
            <a:ext cx="46360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Deterministic safety net.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The ESI scorer and interaction checker are local code — the LLM can talk, but code decides.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4091939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4014215"/>
            <a:ext cx="46360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Instrumented UI.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Every tool call surfaces in panels — nothing happens invisibly.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493318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4855464"/>
            <a:ext cx="4636007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Language parity.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agents/voicemed_triage_es.jsonc: same tools, Spanish prompt, voice lola.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EA1BB"/>
                </a:solidFill>
                <a:latin typeface="Segoe UI"/>
              </a:rPr>
              <a:t>An agent is only as safe as its process — </a:t>
            </a:r>
            <a:r>
              <a:rPr sz="1400" b="1" i="1">
                <a:solidFill>
                  <a:srgbClr val="2DD4BF"/>
                </a:solidFill>
                <a:latin typeface="Segoe UI"/>
              </a:rPr>
              <a:t>so we made the process explicit, testable and 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05 · CLINICAL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Six function tools — executed locally, results spoken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109728" cy="157276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659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BDF8"/>
                </a:solidFill>
                <a:latin typeface="Consolas"/>
              </a:rPr>
              <a:t>symptom_lookup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50008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Matches symptoms to conditions, red flags &amp; suggested follow-ups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783080"/>
            <a:ext cx="109728" cy="15727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9E0B"/>
                </a:solidFill>
                <a:latin typeface="Consolas"/>
              </a:rPr>
              <a:t>drug_interaction_check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50008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Screens med list against a clinical interaction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78308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1783080"/>
            <a:ext cx="109728" cy="157276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9659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DD4BF"/>
                </a:solidFill>
                <a:latin typeface="Consolas"/>
              </a:rPr>
              <a:t>triage_assessment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50008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Scores ESI 1–5 from severity, duration, vitals &amp; red flags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6616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66160"/>
            <a:ext cx="109728" cy="15727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4903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4D399"/>
                </a:solidFill>
                <a:latin typeface="Consolas"/>
              </a:rPr>
              <a:t>generate_soap_note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33087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Emits a structured S/O/A/P note with ICD-10 codes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109728" cy="157276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3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BDF8"/>
                </a:solidFill>
                <a:latin typeface="Consolas"/>
              </a:rPr>
              <a:t>book_appointment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33087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Books telehealth / urgent care / specialist follow-up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56616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566160"/>
            <a:ext cx="109728" cy="157276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74903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43F5E"/>
                </a:solidFill>
                <a:latin typeface="Consolas"/>
              </a:rPr>
              <a:t>emergency_alert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133087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Holds the session &amp; escalates 911 / 988 on red flags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440680"/>
            <a:ext cx="11073384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5778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E9EEF7"/>
                </a:solidFill>
                <a:latin typeface="Segoe UI"/>
              </a:rPr>
              <a:t>Tool loop: </a:t>
            </a:r>
            <a:r>
              <a:rPr sz="1250" b="0" i="0">
                <a:solidFill>
                  <a:srgbClr val="8EA1BB"/>
                </a:solidFill>
                <a:latin typeface="Segoe UI"/>
              </a:rPr>
              <a:t>agent calls tool → bridge executes in ms → result queued as tool.result (held until reply.done) → Aria speaks the finding in one sentence — never raw 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06 · BILINGUAL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English · Español — same agent, same tools, one click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94960" cy="379476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5394960" cy="1097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 Semibold"/>
              </a:rPr>
              <a:t>🇺🇸  English — voice: alba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E9EEF7"/>
                </a:solidFill>
                <a:latin typeface="Segoe UI"/>
              </a:rPr>
              <a:t>“What's the main reason for your call today?”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140964"/>
            <a:ext cx="100584" cy="1005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4636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English medical keyterms prompt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07892"/>
            <a:ext cx="100584" cy="1005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630168"/>
            <a:ext cx="4636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ESI scoring, red flags, 911 / 988 escalation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274820"/>
            <a:ext cx="100584" cy="1005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197096"/>
            <a:ext cx="4636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SOAP note for the medical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645920"/>
            <a:ext cx="5394960" cy="379476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645920"/>
            <a:ext cx="539496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19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D4BF"/>
                </a:solidFill>
                <a:latin typeface="Segoe UI Semibold"/>
              </a:rPr>
              <a:t>🇪🇸  Español — voice: lola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E9EEF7"/>
                </a:solidFill>
                <a:latin typeface="Segoe UI"/>
              </a:rPr>
              <a:t>“¿Cuál es el motivo principal de tu llamada hoy?”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14096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063240"/>
            <a:ext cx="4636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Spanish STT (language_codes: es) + keyterms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707892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3630168"/>
            <a:ext cx="4636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Full Spanish system prompt &amp; greeting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4274820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4197096"/>
            <a:ext cx="4636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Native Spanish TTS voice — not translated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623560"/>
            <a:ext cx="11073384" cy="77724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607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9EEF7"/>
                </a:solidFill>
                <a:latin typeface="Segoe UI"/>
              </a:rPr>
              <a:t>Design choice: </a:t>
            </a:r>
            <a:r>
              <a:rPr sz="1250" b="0" i="0">
                <a:solidFill>
                  <a:srgbClr val="8EA1BB"/>
                </a:solidFill>
                <a:latin typeface="Segoe UI"/>
              </a:rPr>
              <a:t>patients in crisis must not think in a second language — the interview, follow-ups and safety instructions all happen in their language, while tool results stay structured for the clinic.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07 · SAFETY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Medical AI earns trust by failing loudly and safely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394960" cy="171907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5394960" cy="10972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56815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3F5E"/>
                </a:solidFill>
                <a:latin typeface="Segoe UI Semibold"/>
              </a:rPr>
              <a:t>🚨  Red flags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Stroke, cardiac, bleeding, anaphylaxis and suicidal-ideation screening is a mandatory interview stage — escalation is a held tool call, not a suggestion.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394960" cy="171907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737360"/>
            <a:ext cx="539496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56815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D4BF"/>
                </a:solidFill>
                <a:latin typeface="Segoe UI Semibold"/>
              </a:rPr>
              <a:t>🧮  Code decides 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95728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ESI 1–5 comes from a deterministic local scorer; the LLM narrates, it never grades urgency.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7600"/>
            <a:ext cx="5394960" cy="171907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657600"/>
            <a:ext cx="53949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770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Segoe UI Semibold"/>
              </a:rPr>
              <a:t>🚫  No diagnosis, 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15968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Hard prompt rules: no dosing advice, no prescriptions, 'could be related to' instead of 'you have'.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657600"/>
            <a:ext cx="5394960" cy="171907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657600"/>
            <a:ext cx="539496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770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4D399"/>
                </a:solidFill>
                <a:latin typeface="Segoe UI Semibold"/>
              </a:rPr>
              <a:t>🔒  Privacy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15968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EA1BB"/>
                </a:solidFill>
                <a:latin typeface="Segoe UI"/>
              </a:rPr>
              <a:t>Audio streams through the agent bridge; clinical records stay local. No PHI in prompts to third parties.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Segoe UI"/>
              </a:rPr>
              <a:t>Disclaimer, honestly stated: </a:t>
            </a:r>
            <a:r>
              <a:rPr sz="1400" b="0" i="0">
                <a:solidFill>
                  <a:srgbClr val="8EA1BB"/>
                </a:solidFill>
                <a:latin typeface="Segoe UI"/>
              </a:rPr>
              <a:t>a demo, not a medical device — but the safety architecture is the part worth grading.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08 ·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Not a demo hack — a verified codebase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28800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Segoe UI Semibold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505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unit &amp; API tests passing (pytest)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91640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828800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Segoe UI Semibold"/>
              </a:rPr>
              <a:t>7/7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4505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live protocol checks vs the real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Segoe UI Semibol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4505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function tools with typed schemas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691640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828800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D4B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4505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languages with full agent parity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46100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52303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Smoke test against production.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connects to wss://agents.assemblyai.com: token → session.update → ready → audio → clean end.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4119372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8"/>
            <a:ext cx="52303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One config, three consumers.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the JSONC drives the browser session, the publisher script and the tests.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777740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00016"/>
            <a:ext cx="52303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Async FastAPI bridge.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lifespan-managed, env-driven, typed tool dispatch.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3310128"/>
            <a:ext cx="5303520" cy="22860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49300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Verified live, in order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963924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3886200"/>
            <a:ext cx="4590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9EEF7"/>
                </a:solidFill>
                <a:latin typeface="Segoe UI"/>
              </a:rPr>
              <a:t>token mint (single-use, 2-min TTL)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375404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4297680"/>
            <a:ext cx="4590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9EEF7"/>
                </a:solidFill>
                <a:latin typeface="Segoe UI"/>
              </a:rPr>
              <a:t>session.update (agent or inline config)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786884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4709160"/>
            <a:ext cx="4590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9EEF7"/>
                </a:solidFill>
                <a:latin typeface="Segoe UI"/>
              </a:rPr>
              <a:t>session.ready → greeting audio bytes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5198364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5120640"/>
            <a:ext cx="4590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9EEF7"/>
                </a:solidFill>
                <a:latin typeface="Segoe UI"/>
              </a:rPr>
              <a:t>graceful session.end, zero leaks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09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Where this goes the morning after the 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94960" cy="416052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D4BF"/>
                </a:solidFill>
                <a:latin typeface="Segoe UI Semibold"/>
              </a:rPr>
              <a:t>Why teams adopt it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5516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636007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Staff leverage.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A pre-nurse does structured intake so human nurses start at level 3, not level 0.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351276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273552"/>
            <a:ext cx="4636007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Fewer mis-triaged calls.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Mandatory red-flag stage + deterministic scoring cut the 'I didn't know it was serious' failure mode.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247388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169664"/>
            <a:ext cx="4636007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Health equity.  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1BB"/>
                </a:solidFill>
                <a:latin typeface="Segoe UI"/>
              </a:rPr>
              <a:t>Voice + Spanish reaches the patients portals miss.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5394960" cy="416052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470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Segoe UI Semibold"/>
              </a:rPr>
              <a:t>Roadmap (all local, plausible)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395728"/>
            <a:ext cx="566928" cy="457200"/>
          </a:xfrm>
          <a:prstGeom prst="roundRect">
            <a:avLst>
              <a:gd name="adj" fmla="val 50000"/>
            </a:avLst>
          </a:prstGeom>
          <a:solidFill>
            <a:srgbClr val="111A2D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95728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2414016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EHR write-back (FHIR) for the SOAP note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236976"/>
            <a:ext cx="566928" cy="457200"/>
          </a:xfrm>
          <a:prstGeom prst="roundRect">
            <a:avLst>
              <a:gd name="adj" fmla="val 50000"/>
            </a:avLst>
          </a:prstGeom>
          <a:solidFill>
            <a:srgbClr val="111A2D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36976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3255264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Pill-image &amp; vitals capture via device APIs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078224"/>
            <a:ext cx="566928" cy="457200"/>
          </a:xfrm>
          <a:prstGeom prst="roundRect">
            <a:avLst>
              <a:gd name="adj" fmla="val 50000"/>
            </a:avLst>
          </a:prstGeom>
          <a:solidFill>
            <a:srgbClr val="111A2D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078224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4096511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Voice-keyterm dashboard for clinic 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919472"/>
            <a:ext cx="566928" cy="457200"/>
          </a:xfrm>
          <a:prstGeom prst="roundRect">
            <a:avLst>
              <a:gd name="adj" fmla="val 50000"/>
            </a:avLst>
          </a:prstGeom>
          <a:solidFill>
            <a:srgbClr val="111A2D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919472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DD4B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4937760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9EEF7"/>
                </a:solidFill>
                <a:latin typeface="Segoe UI"/>
              </a:rPr>
              <a:t>On-prem model swap behind the same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DD4BF"/>
                </a:solidFill>
                <a:latin typeface="Segoe UI Semibold"/>
              </a:rPr>
              <a:t>10 ·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EF7"/>
                </a:solidFill>
                <a:latin typeface="Segoe UI Semibold"/>
              </a:rPr>
              <a:t>Everything below is in the repo — running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3529584" cy="162763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EEF7"/>
                </a:solidFill>
                <a:latin typeface="Segoe UI Semibold"/>
              </a:rPr>
              <a:t>🎙️  Real-time voice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Barge-in, VAD, live transcript, animated waveform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529584" cy="162763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2024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EEF7"/>
                </a:solidFill>
                <a:latin typeface="Segoe UI Semibold"/>
              </a:rPr>
              <a:t>🩺  Full triage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95728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ESI scoring, red flags, med checks, SOAP, booking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737360"/>
            <a:ext cx="3529584" cy="162763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192024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EEF7"/>
                </a:solidFill>
                <a:latin typeface="Segoe UI Semibold"/>
              </a:rPr>
              <a:t>🌍  English + Español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3" y="2395728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Language switcher, native voices, shared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66160"/>
            <a:ext cx="3529584" cy="162763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EEF7"/>
                </a:solidFill>
                <a:latin typeface="Segoe UI Semibold"/>
              </a:rPr>
              <a:t>🎬  Demo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24528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Presenter mode that auto-advances with the patient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566160"/>
            <a:ext cx="3529584" cy="162763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749039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EEF7"/>
                </a:solidFill>
                <a:latin typeface="Segoe UI Semibold"/>
              </a:rPr>
              <a:t>📊  Clinical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224528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Redesigned dark-glass UI: chat transcript, stepper, ESI gauge, tool 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3566160"/>
            <a:ext cx="3529584" cy="1627632"/>
          </a:xfrm>
          <a:prstGeom prst="roundRect">
            <a:avLst>
              <a:gd name="adj" fmla="val 10000"/>
            </a:avLst>
          </a:prstGeom>
          <a:solidFill>
            <a:srgbClr val="111A2D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3" y="3749039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EEF7"/>
                </a:solidFill>
                <a:latin typeface="Segoe UI Semibold"/>
              </a:rPr>
              <a:t>🧪  44 tests + smoke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4224528"/>
            <a:ext cx="30358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8EA1BB"/>
                </a:solidFill>
                <a:latin typeface="Segoe UI"/>
              </a:rPr>
              <a:t>Protocol verified against production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6692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Run it: </a:t>
            </a:r>
            <a:r>
              <a:rPr sz="1300" b="0" i="0">
                <a:solidFill>
                  <a:srgbClr val="8EA1BB"/>
                </a:solidFill>
                <a:latin typeface="Segoe UI"/>
              </a:rPr>
              <a:t>pip install -r requirements.txt  →  add ASSEMBLYAI_API_KEY  →  uvicorn app.main:app  →  press Start.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028700"/>
            <a:ext cx="45449" cy="457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639" y="993457"/>
            <a:ext cx="45449" cy="1162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0639" y="958556"/>
            <a:ext cx="45449" cy="18600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1638" y="939269"/>
            <a:ext cx="45449" cy="2245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638" y="947599"/>
            <a:ext cx="45449" cy="2079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3638" y="986574"/>
            <a:ext cx="45449" cy="12997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637" y="1009805"/>
            <a:ext cx="45449" cy="8350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55637" y="945150"/>
            <a:ext cx="45449" cy="21281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56637" y="899116"/>
            <a:ext cx="45449" cy="30488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57636" y="889752"/>
            <a:ext cx="45449" cy="32361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58636" y="923783"/>
            <a:ext cx="45449" cy="25555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59636" y="993270"/>
            <a:ext cx="45449" cy="11657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60635" y="979860"/>
            <a:ext cx="45449" cy="14339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61635" y="907505"/>
            <a:ext cx="45449" cy="2881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62634" y="870622"/>
            <a:ext cx="45449" cy="36187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63634" y="881365"/>
            <a:ext cx="45449" cy="34038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64634" y="936187"/>
            <a:ext cx="45449" cy="23074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65633" y="1017090"/>
            <a:ext cx="45449" cy="6893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66633" y="959414"/>
            <a:ext cx="45449" cy="18429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67633" y="903627"/>
            <a:ext cx="45449" cy="29586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8632" y="888600"/>
            <a:ext cx="45449" cy="32591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69632" y="915730"/>
            <a:ext cx="45449" cy="27165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70632" y="972621"/>
            <a:ext cx="45449" cy="15787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71631" y="1019032"/>
            <a:ext cx="45449" cy="6505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2631" y="965929"/>
            <a:ext cx="45449" cy="17126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73630" y="940079"/>
            <a:ext cx="45449" cy="22296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74630" y="944912"/>
            <a:ext cx="45449" cy="21329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75630" y="972894"/>
            <a:ext cx="45449" cy="15733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76629" y="1009782"/>
            <a:ext cx="45449" cy="8355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77629" y="1014069"/>
            <a:ext cx="45449" cy="749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78629" y="977156"/>
            <a:ext cx="45449" cy="14880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79628" y="947286"/>
            <a:ext cx="45449" cy="20854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80628" y="939097"/>
            <a:ext cx="45449" cy="22492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81628" y="961213"/>
            <a:ext cx="45449" cy="18069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982627" y="1011624"/>
            <a:ext cx="45449" cy="7987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83627" y="980485"/>
            <a:ext cx="45449" cy="1421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84626" y="921341"/>
            <a:ext cx="45449" cy="26043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85626" y="889757"/>
            <a:ext cx="45449" cy="3236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86626" y="899508"/>
            <a:ext cx="45449" cy="30410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87625" y="950979"/>
            <a:ext cx="45449" cy="20116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88625" y="1027328"/>
            <a:ext cx="45449" cy="4846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689625" y="944980"/>
            <a:ext cx="45449" cy="21315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90624" y="885849"/>
            <a:ext cx="45449" cy="33142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91624" y="869316"/>
            <a:ext cx="45449" cy="364487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992624" y="900842"/>
            <a:ext cx="45449" cy="30143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93623" y="970029"/>
            <a:ext cx="45449" cy="1630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194623" y="1003095"/>
            <a:ext cx="45449" cy="9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295622" y="930549"/>
            <a:ext cx="45449" cy="2420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96622" y="891560"/>
            <a:ext cx="45449" cy="31999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97622" y="895800"/>
            <a:ext cx="45449" cy="31151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98621" y="938223"/>
            <a:ext cx="45449" cy="2266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699621" y="1001814"/>
            <a:ext cx="45449" cy="9949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0621" y="993014"/>
            <a:ext cx="45449" cy="11709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901620" y="950714"/>
            <a:ext cx="45449" cy="20169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002620" y="938650"/>
            <a:ext cx="45449" cy="22581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03620" y="955129"/>
            <a:ext cx="45449" cy="19286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04619" y="988960"/>
            <a:ext cx="45449" cy="12519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05619" y="1024919"/>
            <a:ext cx="45449" cy="532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406618" y="997955"/>
            <a:ext cx="45449" cy="1072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07618" y="962213"/>
            <a:ext cx="45449" cy="17869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608618" y="940296"/>
            <a:ext cx="45449" cy="22252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09617" y="944939"/>
            <a:ext cx="45449" cy="21324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810617" y="980464"/>
            <a:ext cx="45449" cy="142191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11617" y="1017739"/>
            <a:ext cx="45449" cy="6764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12616" y="952350"/>
            <a:ext cx="45449" cy="19841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113616" y="902973"/>
            <a:ext cx="45449" cy="29717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214616" y="888586"/>
            <a:ext cx="45449" cy="32594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15615" y="917541"/>
            <a:ext cx="45449" cy="26803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416615" y="983665"/>
            <a:ext cx="45449" cy="13578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517614" y="989867"/>
            <a:ext cx="45449" cy="12338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618614" y="914693"/>
            <a:ext cx="45449" cy="27373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719614" y="872631"/>
            <a:ext cx="45449" cy="35785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820613" y="877533"/>
            <a:ext cx="45449" cy="348053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921613" y="927778"/>
            <a:ext cx="45449" cy="24756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022613" y="1006851"/>
            <a:ext cx="45449" cy="89417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123612" y="968221"/>
            <a:ext cx="45449" cy="16667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224612" y="908350"/>
            <a:ext cx="45449" cy="28641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325612" y="888065"/>
            <a:ext cx="45449" cy="32698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426611" y="910557"/>
            <a:ext cx="45449" cy="2820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527611" y="964885"/>
            <a:ext cx="45449" cy="17334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628610" y="1026631"/>
            <a:ext cx="45449" cy="4985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729610" y="971049"/>
            <a:ext cx="45449" cy="1610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830610" y="941515"/>
            <a:ext cx="45449" cy="22008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931609" y="942878"/>
            <a:ext cx="45449" cy="21736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032609" y="968760"/>
            <a:ext cx="45449" cy="16559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9133609" y="1005405"/>
            <a:ext cx="45449" cy="923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234608" y="1018245"/>
            <a:ext cx="45449" cy="666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335608" y="981519"/>
            <a:ext cx="45449" cy="14008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9436608" y="949980"/>
            <a:ext cx="45449" cy="20315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537607" y="938563"/>
            <a:ext cx="45449" cy="2259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638607" y="956919"/>
            <a:ext cx="45449" cy="18928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739606" y="1004439"/>
            <a:ext cx="45449" cy="94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840606" y="988437"/>
            <a:ext cx="45449" cy="1262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941606" y="927358"/>
            <a:ext cx="45449" cy="248403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042605" y="891525"/>
            <a:ext cx="45449" cy="3200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0143605" y="896006"/>
            <a:ext cx="45449" cy="311107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0244605" y="942954"/>
            <a:ext cx="45449" cy="217211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345604" y="1019883"/>
            <a:ext cx="45449" cy="63353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446604" y="954117"/>
            <a:ext cx="45449" cy="19488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547604" y="890962"/>
            <a:ext cx="45449" cy="32119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648603" y="868720"/>
            <a:ext cx="45449" cy="36567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0749603" y="894734"/>
            <a:ext cx="45449" cy="3136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850602" y="960420"/>
            <a:ext cx="45449" cy="18227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951602" y="1013095"/>
            <a:ext cx="45449" cy="76929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1052602" y="937813"/>
            <a:ext cx="45449" cy="2274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1153601" y="894007"/>
            <a:ext cx="45449" cy="31510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1254601" y="893047"/>
            <a:ext cx="45449" cy="3170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1355601" y="931607"/>
            <a:ext cx="45449" cy="23990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456600" y="993805"/>
            <a:ext cx="45449" cy="115509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1557600" y="999757"/>
            <a:ext cx="45449" cy="10360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8640" y="173736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9EEF7"/>
                </a:solidFill>
                <a:latin typeface="Segoe UI Semibold"/>
              </a:rPr>
              <a:t>The next health call </a:t>
            </a:r>
            <a:r>
              <a:rPr sz="3600" b="1" i="0">
                <a:solidFill>
                  <a:srgbClr val="E9EEF7"/>
                </a:solidFill>
                <a:latin typeface="Segoe UI Semibold"/>
              </a:rPr>
              <a:t>should sound</a:t>
            </a:r>
            <a:r>
              <a:rPr sz="3600" b="1" i="0">
                <a:solidFill>
                  <a:srgbClr val="2DD4BF"/>
                </a:solidFill>
                <a:latin typeface="Segoe UI Semibold"/>
              </a:rPr>
              <a:t> like a conversation.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" y="2788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8EA1BB"/>
                </a:solidFill>
                <a:latin typeface="Segoe UI"/>
              </a:rPr>
              <a:t>VoiceMed AI — Aria, the bilingual triage nurse on the AssemblyAI Voice Agent API.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66928" y="3657600"/>
            <a:ext cx="11073384" cy="173736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 w="12700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8680" y="3840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D4BF"/>
                </a:solidFill>
                <a:latin typeface="Segoe UI"/>
              </a:rPr>
              <a:t>Try it in 60 seconds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8680" y="422452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9EEF7"/>
                </a:solidFill>
                <a:latin typeface="Consolas"/>
              </a:rPr>
              <a:t>git clone github.com/rehannayeem0786/Voicemed-AI-Agent-Hackathon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EA1BB"/>
                </a:solidFill>
                <a:latin typeface="Consolas"/>
              </a:rPr>
              <a:t>.env  ←  ASSEMBLYAI_API_KEY=...      uvicorn app.main:app --port 8000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8BDF8"/>
                </a:solidFill>
                <a:latin typeface="Consolas"/>
              </a:rPr>
              <a:t>open http://localhost:8000  →  press Start  →  say “I have crushing chest pain”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5715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7"/>
                </a:solidFill>
                <a:latin typeface="Segoe UI"/>
              </a:rPr>
              <a:t>Rehan Nayeem</a:t>
            </a:r>
            <a:r>
              <a:rPr sz="1300" b="0" i="0">
                <a:solidFill>
                  <a:srgbClr val="8EA1BB"/>
                </a:solidFill>
                <a:latin typeface="Segoe UI"/>
              </a:rPr>
              <a:t>   ·   AssemblyAI Voice Agent Hackathon   ·   thank you — questions welcome 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VoiceMed AI — Voice-Powered Medical Triage Nurse</dc:title>
  <dc:subject/>
  <dc:creator>Rehan Nayeem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